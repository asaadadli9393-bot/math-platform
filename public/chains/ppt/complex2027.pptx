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-1005840" y="2194560"/>
            <a:ext cx="4572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0" b="1">
                <a:solidFill>
                  <a:srgbClr val="065F46"/>
                </a:solidFill>
              </a:rPr>
              <a:t>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8580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500" b="1">
                <a:solidFill>
                  <a:srgbClr val="A7F3D0"/>
                </a:solidFill>
                <a:latin typeface="Tahoma"/>
                <a:cs typeface="Tahoma"/>
              </a:rPr>
              <a:t>منصة تدرّج للرياضيات — سلاسل البكالوريا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Tahoma"/>
                <a:cs typeface="Tahoma"/>
              </a:rPr>
              <a:t>سلسلة الأعداد المركبة والتحويلات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4320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900" b="0">
                <a:solidFill>
                  <a:srgbClr val="A7F3D0"/>
                </a:solidFill>
                <a:latin typeface="Tahoma"/>
                <a:cs typeface="Tahoma"/>
              </a:rPr>
              <a:t>تمارين مع الحلول النموذجية المفصلة + التمثيلات البيانية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3429000"/>
            <a:ext cx="3566160" cy="502920"/>
          </a:xfrm>
          <a:prstGeom prst="round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  <a:r>
              <a:rPr sz="1400" b="1">
                <a:solidFill>
                  <a:srgbClr val="78350F"/>
                </a:solidFill>
                <a:latin typeface="Tahoma"/>
                <a:cs typeface="Tahoma"/>
              </a:rPr>
              <a:t>ثالثة ثانوي — استعداد للبكالوريا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4251960"/>
            <a:ext cx="905256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250" b="0">
                <a:solidFill>
                  <a:srgbClr val="A7F3D0"/>
                </a:solidFill>
                <a:latin typeface="Tahoma"/>
                <a:cs typeface="Tahoma"/>
              </a:rPr>
              <a:t>الصور المختلفة، العمليات، الشكل المثلثي، المعادلات المركبة، والتحويلات الهندسية — تمارين شاملة مع الحلول النموذجية.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623560"/>
            <a:ext cx="99669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2100" b="1">
                <a:solidFill>
                  <a:srgbClr val="FBBF24"/>
                </a:solidFill>
                <a:latin typeface="Tahoma"/>
                <a:cs typeface="Tahoma"/>
              </a:rPr>
              <a:t>تحت إشراف الأستاذ: عدلي أسعد</a:t>
            </a:r>
          </a:p>
          <a:p>
            <a:pPr algn="ctr" rtl="1">
              <a:spcAft>
                <a:spcPts val="600"/>
              </a:spcAft>
            </a:pPr>
            <a:r>
              <a:rPr sz="1100" b="0">
                <a:solidFill>
                  <a:srgbClr val="A7F3D0"/>
                </a:solidFill>
                <a:latin typeface="Tahoma"/>
                <a:cs typeface="Tahoma"/>
              </a:rPr>
              <a:t>8 صفحات + 1 تمثيل بياني — PowerPoint قابل للتحميل والعرض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17520" y="0"/>
            <a:ext cx="54864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320040"/>
            <a:ext cx="25603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  <a:latin typeface="Tahoma"/>
                <a:cs typeface="Tahoma"/>
              </a:rPr>
              <a:t>تدرّج للرياضيات</a:t>
            </a:r>
          </a:p>
          <a:p>
            <a:pPr algn="ctr" rtl="1">
              <a:spcAft>
                <a:spcPts val="600"/>
              </a:spcAft>
            </a:pPr>
            <a:r>
              <a:rPr sz="950" b="0">
                <a:solidFill>
                  <a:srgbClr val="A7F3D0"/>
                </a:solidFill>
                <a:latin typeface="Tahoma"/>
                <a:cs typeface="Tahoma"/>
              </a:rPr>
              <a:t>تحت إشراف الأستاذ عدلي أسعد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2286000"/>
            <a:ext cx="256032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Tahoma"/>
                <a:cs typeface="Tahoma"/>
              </a:rPr>
              <a:t>سلسلة الأعداد المركبة والتحويلات</a:t>
            </a:r>
          </a:p>
          <a:p>
            <a:pPr algn="ctr" rtl="1">
              <a:spcAft>
                <a:spcPts val="600"/>
              </a:spcAft>
            </a:pPr>
            <a:r>
              <a:rPr sz="1100" b="0">
                <a:solidFill>
                  <a:srgbClr val="A7F3D0"/>
                </a:solidFill>
                <a:latin typeface="Tahoma"/>
                <a:cs typeface="Tahoma"/>
              </a:rPr>
              <a:t>الحلول النموذجية المفصلة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989320"/>
            <a:ext cx="2011680" cy="457200"/>
          </a:xfrm>
          <a:prstGeom prst="roundRect">
            <a:avLst/>
          </a:prstGeom>
          <a:solidFill>
            <a:srgbClr val="065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  <a:r>
              <a:rPr sz="1200" b="1">
                <a:solidFill>
                  <a:srgbClr val="FBBF24"/>
                </a:solidFill>
                <a:latin typeface="Tahoma"/>
                <a:cs typeface="Tahoma"/>
              </a:rPr>
              <a:t>صفحة 1 / 8</a:t>
            </a:r>
          </a:p>
        </p:txBody>
      </p:sp>
      <p:pic>
        <p:nvPicPr>
          <p:cNvPr id="8" name="Picture 7" descr="_complex2027_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737" y="274320"/>
            <a:ext cx="4460436" cy="6309360"/>
          </a:xfrm>
          <a:prstGeom prst="rect">
            <a:avLst/>
          </a:prstGeom>
          <a:ln w="12700">
            <a:solidFill>
              <a:srgbClr val="E7E5E4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17520" y="0"/>
            <a:ext cx="54864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320040"/>
            <a:ext cx="25603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  <a:latin typeface="Tahoma"/>
                <a:cs typeface="Tahoma"/>
              </a:rPr>
              <a:t>تدرّج للرياضيات</a:t>
            </a:r>
          </a:p>
          <a:p>
            <a:pPr algn="ctr" rtl="1">
              <a:spcAft>
                <a:spcPts val="600"/>
              </a:spcAft>
            </a:pPr>
            <a:r>
              <a:rPr sz="950" b="0">
                <a:solidFill>
                  <a:srgbClr val="A7F3D0"/>
                </a:solidFill>
                <a:latin typeface="Tahoma"/>
                <a:cs typeface="Tahoma"/>
              </a:rPr>
              <a:t>تحت إشراف الأستاذ عدلي أسعد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2286000"/>
            <a:ext cx="256032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Tahoma"/>
                <a:cs typeface="Tahoma"/>
              </a:rPr>
              <a:t>سلسلة الأعداد المركبة والتحويلات</a:t>
            </a:r>
          </a:p>
          <a:p>
            <a:pPr algn="ctr" rtl="1">
              <a:spcAft>
                <a:spcPts val="600"/>
              </a:spcAft>
            </a:pPr>
            <a:r>
              <a:rPr sz="1100" b="0">
                <a:solidFill>
                  <a:srgbClr val="A7F3D0"/>
                </a:solidFill>
                <a:latin typeface="Tahoma"/>
                <a:cs typeface="Tahoma"/>
              </a:rPr>
              <a:t>الحلول النموذجية المفصلة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989320"/>
            <a:ext cx="2011680" cy="457200"/>
          </a:xfrm>
          <a:prstGeom prst="roundRect">
            <a:avLst/>
          </a:prstGeom>
          <a:solidFill>
            <a:srgbClr val="065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  <a:r>
              <a:rPr sz="1200" b="1">
                <a:solidFill>
                  <a:srgbClr val="FBBF24"/>
                </a:solidFill>
                <a:latin typeface="Tahoma"/>
                <a:cs typeface="Tahoma"/>
              </a:rPr>
              <a:t>صفحة 2 / 8</a:t>
            </a:r>
          </a:p>
        </p:txBody>
      </p:sp>
      <p:pic>
        <p:nvPicPr>
          <p:cNvPr id="8" name="Picture 7" descr="_complex2027_-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737" y="274320"/>
            <a:ext cx="4460436" cy="6309360"/>
          </a:xfrm>
          <a:prstGeom prst="rect">
            <a:avLst/>
          </a:prstGeom>
          <a:ln w="12700">
            <a:solidFill>
              <a:srgbClr val="E7E5E4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17520" y="0"/>
            <a:ext cx="54864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320040"/>
            <a:ext cx="25603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  <a:latin typeface="Tahoma"/>
                <a:cs typeface="Tahoma"/>
              </a:rPr>
              <a:t>تدرّج للرياضيات</a:t>
            </a:r>
          </a:p>
          <a:p>
            <a:pPr algn="ctr" rtl="1">
              <a:spcAft>
                <a:spcPts val="600"/>
              </a:spcAft>
            </a:pPr>
            <a:r>
              <a:rPr sz="950" b="0">
                <a:solidFill>
                  <a:srgbClr val="A7F3D0"/>
                </a:solidFill>
                <a:latin typeface="Tahoma"/>
                <a:cs typeface="Tahoma"/>
              </a:rPr>
              <a:t>تحت إشراف الأستاذ عدلي أسعد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2286000"/>
            <a:ext cx="256032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Tahoma"/>
                <a:cs typeface="Tahoma"/>
              </a:rPr>
              <a:t>سلسلة الأعداد المركبة والتحويلات</a:t>
            </a:r>
          </a:p>
          <a:p>
            <a:pPr algn="ctr" rtl="1">
              <a:spcAft>
                <a:spcPts val="600"/>
              </a:spcAft>
            </a:pPr>
            <a:r>
              <a:rPr sz="1100" b="0">
                <a:solidFill>
                  <a:srgbClr val="A7F3D0"/>
                </a:solidFill>
                <a:latin typeface="Tahoma"/>
                <a:cs typeface="Tahoma"/>
              </a:rPr>
              <a:t>الحلول النموذجية المفصلة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989320"/>
            <a:ext cx="2011680" cy="457200"/>
          </a:xfrm>
          <a:prstGeom prst="roundRect">
            <a:avLst/>
          </a:prstGeom>
          <a:solidFill>
            <a:srgbClr val="065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  <a:r>
              <a:rPr sz="1200" b="1">
                <a:solidFill>
                  <a:srgbClr val="FBBF24"/>
                </a:solidFill>
                <a:latin typeface="Tahoma"/>
                <a:cs typeface="Tahoma"/>
              </a:rPr>
              <a:t>صفحة 3 / 8</a:t>
            </a:r>
          </a:p>
        </p:txBody>
      </p:sp>
      <p:pic>
        <p:nvPicPr>
          <p:cNvPr id="8" name="Picture 7" descr="_complex2027_-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737" y="274320"/>
            <a:ext cx="4460436" cy="6309360"/>
          </a:xfrm>
          <a:prstGeom prst="rect">
            <a:avLst/>
          </a:prstGeom>
          <a:ln w="12700">
            <a:solidFill>
              <a:srgbClr val="E7E5E4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17520" y="0"/>
            <a:ext cx="54864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320040"/>
            <a:ext cx="25603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  <a:latin typeface="Tahoma"/>
                <a:cs typeface="Tahoma"/>
              </a:rPr>
              <a:t>تدرّج للرياضيات</a:t>
            </a:r>
          </a:p>
          <a:p>
            <a:pPr algn="ctr" rtl="1">
              <a:spcAft>
                <a:spcPts val="600"/>
              </a:spcAft>
            </a:pPr>
            <a:r>
              <a:rPr sz="950" b="0">
                <a:solidFill>
                  <a:srgbClr val="A7F3D0"/>
                </a:solidFill>
                <a:latin typeface="Tahoma"/>
                <a:cs typeface="Tahoma"/>
              </a:rPr>
              <a:t>تحت إشراف الأستاذ عدلي أسعد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2286000"/>
            <a:ext cx="256032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Tahoma"/>
                <a:cs typeface="Tahoma"/>
              </a:rPr>
              <a:t>سلسلة الأعداد المركبة والتحويلات</a:t>
            </a:r>
          </a:p>
          <a:p>
            <a:pPr algn="ctr" rtl="1">
              <a:spcAft>
                <a:spcPts val="600"/>
              </a:spcAft>
            </a:pPr>
            <a:r>
              <a:rPr sz="1100" b="0">
                <a:solidFill>
                  <a:srgbClr val="A7F3D0"/>
                </a:solidFill>
                <a:latin typeface="Tahoma"/>
                <a:cs typeface="Tahoma"/>
              </a:rPr>
              <a:t>الحلول النموذجية المفصلة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989320"/>
            <a:ext cx="2011680" cy="457200"/>
          </a:xfrm>
          <a:prstGeom prst="roundRect">
            <a:avLst/>
          </a:prstGeom>
          <a:solidFill>
            <a:srgbClr val="065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  <a:r>
              <a:rPr sz="1200" b="1">
                <a:solidFill>
                  <a:srgbClr val="FBBF24"/>
                </a:solidFill>
                <a:latin typeface="Tahoma"/>
                <a:cs typeface="Tahoma"/>
              </a:rPr>
              <a:t>صفحة 4 / 8</a:t>
            </a:r>
          </a:p>
        </p:txBody>
      </p:sp>
      <p:pic>
        <p:nvPicPr>
          <p:cNvPr id="8" name="Picture 7" descr="_complex2027_-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737" y="274320"/>
            <a:ext cx="4460436" cy="6309360"/>
          </a:xfrm>
          <a:prstGeom prst="rect">
            <a:avLst/>
          </a:prstGeom>
          <a:ln w="12700">
            <a:solidFill>
              <a:srgbClr val="E7E5E4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17520" y="0"/>
            <a:ext cx="54864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320040"/>
            <a:ext cx="25603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  <a:latin typeface="Tahoma"/>
                <a:cs typeface="Tahoma"/>
              </a:rPr>
              <a:t>تدرّج للرياضيات</a:t>
            </a:r>
          </a:p>
          <a:p>
            <a:pPr algn="ctr" rtl="1">
              <a:spcAft>
                <a:spcPts val="600"/>
              </a:spcAft>
            </a:pPr>
            <a:r>
              <a:rPr sz="950" b="0">
                <a:solidFill>
                  <a:srgbClr val="A7F3D0"/>
                </a:solidFill>
                <a:latin typeface="Tahoma"/>
                <a:cs typeface="Tahoma"/>
              </a:rPr>
              <a:t>تحت إشراف الأستاذ عدلي أسعد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2286000"/>
            <a:ext cx="256032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Tahoma"/>
                <a:cs typeface="Tahoma"/>
              </a:rPr>
              <a:t>سلسلة الأعداد المركبة والتحويلات</a:t>
            </a:r>
          </a:p>
          <a:p>
            <a:pPr algn="ctr" rtl="1">
              <a:spcAft>
                <a:spcPts val="600"/>
              </a:spcAft>
            </a:pPr>
            <a:r>
              <a:rPr sz="1100" b="0">
                <a:solidFill>
                  <a:srgbClr val="A7F3D0"/>
                </a:solidFill>
                <a:latin typeface="Tahoma"/>
                <a:cs typeface="Tahoma"/>
              </a:rPr>
              <a:t>الحلول النموذجية المفصلة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989320"/>
            <a:ext cx="2011680" cy="457200"/>
          </a:xfrm>
          <a:prstGeom prst="roundRect">
            <a:avLst/>
          </a:prstGeom>
          <a:solidFill>
            <a:srgbClr val="065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  <a:r>
              <a:rPr sz="1200" b="1">
                <a:solidFill>
                  <a:srgbClr val="FBBF24"/>
                </a:solidFill>
                <a:latin typeface="Tahoma"/>
                <a:cs typeface="Tahoma"/>
              </a:rPr>
              <a:t>صفحة 5 / 8</a:t>
            </a:r>
          </a:p>
        </p:txBody>
      </p:sp>
      <p:pic>
        <p:nvPicPr>
          <p:cNvPr id="8" name="Picture 7" descr="_complex2027_-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737" y="274320"/>
            <a:ext cx="4460436" cy="6309360"/>
          </a:xfrm>
          <a:prstGeom prst="rect">
            <a:avLst/>
          </a:prstGeom>
          <a:ln w="12700">
            <a:solidFill>
              <a:srgbClr val="E7E5E4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17520" y="0"/>
            <a:ext cx="54864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320040"/>
            <a:ext cx="25603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  <a:latin typeface="Tahoma"/>
                <a:cs typeface="Tahoma"/>
              </a:rPr>
              <a:t>تدرّج للرياضيات</a:t>
            </a:r>
          </a:p>
          <a:p>
            <a:pPr algn="ctr" rtl="1">
              <a:spcAft>
                <a:spcPts val="600"/>
              </a:spcAft>
            </a:pPr>
            <a:r>
              <a:rPr sz="950" b="0">
                <a:solidFill>
                  <a:srgbClr val="A7F3D0"/>
                </a:solidFill>
                <a:latin typeface="Tahoma"/>
                <a:cs typeface="Tahoma"/>
              </a:rPr>
              <a:t>تحت إشراف الأستاذ عدلي أسعد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2286000"/>
            <a:ext cx="256032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Tahoma"/>
                <a:cs typeface="Tahoma"/>
              </a:rPr>
              <a:t>سلسلة الأعداد المركبة والتحويلات</a:t>
            </a:r>
          </a:p>
          <a:p>
            <a:pPr algn="ctr" rtl="1">
              <a:spcAft>
                <a:spcPts val="600"/>
              </a:spcAft>
            </a:pPr>
            <a:r>
              <a:rPr sz="1100" b="0">
                <a:solidFill>
                  <a:srgbClr val="A7F3D0"/>
                </a:solidFill>
                <a:latin typeface="Tahoma"/>
                <a:cs typeface="Tahoma"/>
              </a:rPr>
              <a:t>الحلول النموذجية المفصلة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989320"/>
            <a:ext cx="2011680" cy="457200"/>
          </a:xfrm>
          <a:prstGeom prst="roundRect">
            <a:avLst/>
          </a:prstGeom>
          <a:solidFill>
            <a:srgbClr val="065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  <a:r>
              <a:rPr sz="1200" b="1">
                <a:solidFill>
                  <a:srgbClr val="FBBF24"/>
                </a:solidFill>
                <a:latin typeface="Tahoma"/>
                <a:cs typeface="Tahoma"/>
              </a:rPr>
              <a:t>صفحة 6 / 8</a:t>
            </a:r>
          </a:p>
        </p:txBody>
      </p:sp>
      <p:pic>
        <p:nvPicPr>
          <p:cNvPr id="8" name="Picture 7" descr="_complex2027_-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737" y="274320"/>
            <a:ext cx="4460436" cy="6309360"/>
          </a:xfrm>
          <a:prstGeom prst="rect">
            <a:avLst/>
          </a:prstGeom>
          <a:ln w="12700">
            <a:solidFill>
              <a:srgbClr val="E7E5E4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17520" y="0"/>
            <a:ext cx="54864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320040"/>
            <a:ext cx="25603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  <a:latin typeface="Tahoma"/>
                <a:cs typeface="Tahoma"/>
              </a:rPr>
              <a:t>تدرّج للرياضيات</a:t>
            </a:r>
          </a:p>
          <a:p>
            <a:pPr algn="ctr" rtl="1">
              <a:spcAft>
                <a:spcPts val="600"/>
              </a:spcAft>
            </a:pPr>
            <a:r>
              <a:rPr sz="950" b="0">
                <a:solidFill>
                  <a:srgbClr val="A7F3D0"/>
                </a:solidFill>
                <a:latin typeface="Tahoma"/>
                <a:cs typeface="Tahoma"/>
              </a:rPr>
              <a:t>تحت إشراف الأستاذ عدلي أسعد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2286000"/>
            <a:ext cx="256032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Tahoma"/>
                <a:cs typeface="Tahoma"/>
              </a:rPr>
              <a:t>سلسلة الأعداد المركبة والتحويلات</a:t>
            </a:r>
          </a:p>
          <a:p>
            <a:pPr algn="ctr" rtl="1">
              <a:spcAft>
                <a:spcPts val="600"/>
              </a:spcAft>
            </a:pPr>
            <a:r>
              <a:rPr sz="1100" b="0">
                <a:solidFill>
                  <a:srgbClr val="A7F3D0"/>
                </a:solidFill>
                <a:latin typeface="Tahoma"/>
                <a:cs typeface="Tahoma"/>
              </a:rPr>
              <a:t>الحلول النموذجية المفصلة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989320"/>
            <a:ext cx="2011680" cy="457200"/>
          </a:xfrm>
          <a:prstGeom prst="roundRect">
            <a:avLst/>
          </a:prstGeom>
          <a:solidFill>
            <a:srgbClr val="065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  <a:r>
              <a:rPr sz="1200" b="1">
                <a:solidFill>
                  <a:srgbClr val="FBBF24"/>
                </a:solidFill>
                <a:latin typeface="Tahoma"/>
                <a:cs typeface="Tahoma"/>
              </a:rPr>
              <a:t>صفحة 7 / 8</a:t>
            </a:r>
          </a:p>
        </p:txBody>
      </p:sp>
      <p:pic>
        <p:nvPicPr>
          <p:cNvPr id="8" name="Picture 7" descr="_complex2027_-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737" y="274320"/>
            <a:ext cx="4460436" cy="6309360"/>
          </a:xfrm>
          <a:prstGeom prst="rect">
            <a:avLst/>
          </a:prstGeom>
          <a:ln w="12700">
            <a:solidFill>
              <a:srgbClr val="E7E5E4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17520" y="0"/>
            <a:ext cx="54864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320040"/>
            <a:ext cx="25603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  <a:latin typeface="Tahoma"/>
                <a:cs typeface="Tahoma"/>
              </a:rPr>
              <a:t>تدرّج للرياضيات</a:t>
            </a:r>
          </a:p>
          <a:p>
            <a:pPr algn="ctr" rtl="1">
              <a:spcAft>
                <a:spcPts val="600"/>
              </a:spcAft>
            </a:pPr>
            <a:r>
              <a:rPr sz="950" b="0">
                <a:solidFill>
                  <a:srgbClr val="A7F3D0"/>
                </a:solidFill>
                <a:latin typeface="Tahoma"/>
                <a:cs typeface="Tahoma"/>
              </a:rPr>
              <a:t>تحت إشراف الأستاذ عدلي أسعد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2286000"/>
            <a:ext cx="256032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Tahoma"/>
                <a:cs typeface="Tahoma"/>
              </a:rPr>
              <a:t>سلسلة الأعداد المركبة والتحويلات</a:t>
            </a:r>
          </a:p>
          <a:p>
            <a:pPr algn="ctr" rtl="1">
              <a:spcAft>
                <a:spcPts val="600"/>
              </a:spcAft>
            </a:pPr>
            <a:r>
              <a:rPr sz="1100" b="0">
                <a:solidFill>
                  <a:srgbClr val="A7F3D0"/>
                </a:solidFill>
                <a:latin typeface="Tahoma"/>
                <a:cs typeface="Tahoma"/>
              </a:rPr>
              <a:t>الحلول النموذجية المفصلة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989320"/>
            <a:ext cx="2011680" cy="457200"/>
          </a:xfrm>
          <a:prstGeom prst="roundRect">
            <a:avLst/>
          </a:prstGeom>
          <a:solidFill>
            <a:srgbClr val="065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  <a:r>
              <a:rPr sz="1200" b="1">
                <a:solidFill>
                  <a:srgbClr val="FBBF24"/>
                </a:solidFill>
                <a:latin typeface="Tahoma"/>
                <a:cs typeface="Tahoma"/>
              </a:rPr>
              <a:t>صفحة 8 / 8</a:t>
            </a:r>
          </a:p>
        </p:txBody>
      </p:sp>
      <p:pic>
        <p:nvPicPr>
          <p:cNvPr id="8" name="Picture 7" descr="_complex2027_-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737" y="274320"/>
            <a:ext cx="4460436" cy="6309360"/>
          </a:xfrm>
          <a:prstGeom prst="rect">
            <a:avLst/>
          </a:prstGeom>
          <a:ln w="12700">
            <a:solidFill>
              <a:srgbClr val="E7E5E4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2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996696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Tahoma"/>
                <a:cs typeface="Tahoma"/>
              </a:rPr>
              <a:t>التمثيلات البيانية المرافقة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566160"/>
            <a:ext cx="99669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800" b="0">
                <a:solidFill>
                  <a:srgbClr val="A7F3D0"/>
                </a:solidFill>
                <a:latin typeface="Tahoma"/>
                <a:cs typeface="Tahoma"/>
              </a:rPr>
              <a:t>1 رسوم رياضية توظف في قراءة الحلول وفهم السلوك الهندسي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98848" y="4434840"/>
            <a:ext cx="3200400" cy="502920"/>
          </a:xfrm>
          <a:prstGeom prst="round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  <a:r>
              <a:rPr sz="1300" b="1">
                <a:solidFill>
                  <a:srgbClr val="78350F"/>
                </a:solidFill>
                <a:latin typeface="Tahoma"/>
                <a:cs typeface="Tahoma"/>
              </a:rPr>
              <a:t>منحنيات • شجرة • Argand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Tahoma"/>
                <a:cs typeface="Tahoma"/>
              </a:rPr>
              <a:t>التمرين 09 — الدائرة (Γ) والنقط A, B, C, D والمثلث ABD</a:t>
            </a:r>
          </a:p>
        </p:txBody>
      </p:sp>
      <p:pic>
        <p:nvPicPr>
          <p:cNvPr id="6" name="Picture 5" descr="compl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1240" y="1078992"/>
            <a:ext cx="8409214" cy="4709160"/>
          </a:xfrm>
          <a:prstGeom prst="rect">
            <a:avLst/>
          </a:prstGeom>
          <a:ln w="12700">
            <a:solidFill>
              <a:srgbClr val="E7E5E4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5961888"/>
            <a:ext cx="12191695" cy="896112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145975" y="5961888"/>
            <a:ext cx="45720" cy="89611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035040"/>
            <a:ext cx="1133856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350" b="0">
                <a:solidFill>
                  <a:srgbClr val="57534E"/>
                </a:solidFill>
                <a:latin typeface="Tahoma"/>
                <a:cs typeface="Tahoma"/>
              </a:rPr>
              <a:t>النقط الأربع تنتمي جميعاً إلى الدائرة (Γ) مركزها O ونصف قطرها 2 — z_D = 1 + i√3 = 2e^(iπ/3) على الشكل الأسي، والمثلث ABD يُنشأ بدقة بوحدة 1.5 cm.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سلسلة الأعداد المركبة والتحويلات — الحلول النموذجية مع التمثيلات البيانية</dc:title>
  <dc:subject>رياضيات — ثالثة ثانوي — بكالوريا</dc:subject>
  <dc:creator>الأستاذ عدلي أسعد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